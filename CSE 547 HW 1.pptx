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649FF-DBE4-BD76-E3B9-57CB00F55356}" v="2094" dt="2026-02-05T22:46:47.027"/>
    <p1510:client id="{C43AF569-38E5-5EEB-FFDC-59BB103D1824}" v="620" dt="2026-02-05T20:59:11.338"/>
    <p1510:client id="{DB4C56F3-0608-2B5A-45D3-E2D38ADB78FE}" v="882" dt="2026-02-05T17:06:13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78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9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51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1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19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8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1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95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9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84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2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91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53" r:id="rId6"/>
    <p:sldLayoutId id="2147483749" r:id="rId7"/>
    <p:sldLayoutId id="2147483750" r:id="rId8"/>
    <p:sldLayoutId id="2147483751" r:id="rId9"/>
    <p:sldLayoutId id="2147483752" r:id="rId10"/>
    <p:sldLayoutId id="2147483754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9F55FD1-95FA-98DA-84AA-145D29A53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B920E-720A-40A4-FB34-2AF805994C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6845" b="5607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AC9EE06-57AF-0FF5-450C-2A606C23B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375140"/>
            <a:ext cx="12192000" cy="4488388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500" y="3404558"/>
            <a:ext cx="7355457" cy="1560167"/>
          </a:xfrm>
        </p:spPr>
        <p:txBody>
          <a:bodyPr>
            <a:normAutofit/>
          </a:bodyPr>
          <a:lstStyle/>
          <a:p>
            <a:r>
              <a:rPr lang="en-US" dirty="0"/>
              <a:t>CSE 547 - HW1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500" y="5610250"/>
            <a:ext cx="7172325" cy="75604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Quyen Tran</a:t>
            </a:r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3FECB8-44EE-4A45-9F7B-66ECF1C3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6825" y="529252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16F9-F60A-3A7E-2BFC-49A54204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F802B-9219-9EAE-0F47-637F27935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Hyperparameters tested using 4 folds CV:</a:t>
            </a:r>
          </a:p>
          <a:p>
            <a:pPr marL="0" indent="0">
              <a:buNone/>
            </a:pPr>
            <a:r>
              <a:rPr lang="en-US" dirty="0"/>
              <a:t>Number of Layers:</a:t>
            </a:r>
          </a:p>
          <a:p>
            <a:pPr marL="285750" indent="-285750"/>
            <a:r>
              <a:rPr lang="en-US" dirty="0"/>
              <a:t>1 layer with 1 node,</a:t>
            </a:r>
          </a:p>
          <a:p>
            <a:pPr marL="285750" indent="-285750"/>
            <a:r>
              <a:rPr lang="en-US" dirty="0"/>
              <a:t>2 layers with 12 nodes and 4 nodes in each layer.</a:t>
            </a:r>
          </a:p>
          <a:p>
            <a:pPr marL="285750" indent="-285750"/>
            <a:r>
              <a:rPr lang="en-US" dirty="0"/>
              <a:t>3 layers with 32 nodes, 32 nodes, and 16 nodes</a:t>
            </a:r>
          </a:p>
          <a:p>
            <a:pPr marL="0" indent="0">
              <a:buNone/>
            </a:pPr>
            <a:r>
              <a:rPr lang="en-US" dirty="0"/>
              <a:t>Different Learning Rates:</a:t>
            </a:r>
          </a:p>
          <a:p>
            <a:pPr marL="285750" indent="-285750"/>
            <a:r>
              <a:rPr lang="en-US" dirty="0"/>
              <a:t>0.1</a:t>
            </a:r>
          </a:p>
          <a:p>
            <a:pPr marL="285750" indent="-285750"/>
            <a:r>
              <a:rPr lang="en-US" dirty="0"/>
              <a:t>0.001</a:t>
            </a:r>
          </a:p>
          <a:p>
            <a:pPr marL="285750" indent="-285750"/>
            <a:r>
              <a:rPr lang="en-US" dirty="0"/>
              <a:t>0.00001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2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70BC64E-B094-49DE-BD9C-DB662FCF5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9F76D-AC44-7781-EEE0-24F92E18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71292"/>
            <a:ext cx="5062635" cy="1133708"/>
          </a:xfrm>
        </p:spPr>
        <p:txBody>
          <a:bodyPr>
            <a:normAutofit/>
          </a:bodyPr>
          <a:lstStyle/>
          <a:p>
            <a:r>
              <a:rPr lang="en-US" dirty="0"/>
              <a:t>1Layer , LR 0.1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18E0F5-1EF3-64D6-0802-B7983AC6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43133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BD210B7-C9A8-7EC3-86C3-2538FE5C1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75791"/>
            <a:ext cx="4300635" cy="41011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Across the four folds, the training and validation scores are random.</a:t>
            </a:r>
          </a:p>
          <a:p>
            <a:r>
              <a:rPr lang="en-US" dirty="0"/>
              <a:t>The model is underfitting because both the training and validation scores are low, a big indicator that the model is not actually learning the general pattern of the model.</a:t>
            </a: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07C37044-3FBD-E24C-9E55-7A2449709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390" y="3547345"/>
            <a:ext cx="3336019" cy="2628225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6EC43B70-82EE-D7EE-16D4-34C4F89F3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059" y="3546111"/>
            <a:ext cx="3405777" cy="2632377"/>
          </a:xfrm>
          <a:prstGeom prst="rect">
            <a:avLst/>
          </a:prstGeom>
        </p:spPr>
      </p:pic>
      <p:pic>
        <p:nvPicPr>
          <p:cNvPr id="5" name="Picture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D6D2954C-A694-39A4-AA69-2CE3F621C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726" y="1013124"/>
            <a:ext cx="3369995" cy="2532739"/>
          </a:xfrm>
          <a:prstGeom prst="rect">
            <a:avLst/>
          </a:prstGeom>
        </p:spPr>
      </p:pic>
      <p:pic>
        <p:nvPicPr>
          <p:cNvPr id="4" name="Content Placeholder 3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ED94D5F2-F087-D51A-4930-821E74EC8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3823" y="1009673"/>
            <a:ext cx="3333899" cy="254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2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1381D-AC17-BE5D-3359-74237B00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C90CA-FE13-6887-9AE0-C35F8F6AB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87BDC-B53A-6AEB-59C3-7A2766DC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71292"/>
            <a:ext cx="5062635" cy="1133708"/>
          </a:xfrm>
        </p:spPr>
        <p:txBody>
          <a:bodyPr>
            <a:normAutofit/>
          </a:bodyPr>
          <a:lstStyle/>
          <a:p>
            <a:r>
              <a:rPr lang="en-US" dirty="0"/>
              <a:t>1Layer, LR 0.001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208806-9A06-356F-88AE-AC1646B24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43133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2" descr="A graph of a graph&#10;&#10;AI-generated content may be incorrect.">
            <a:extLst>
              <a:ext uri="{FF2B5EF4-FFF2-40B4-BE49-F238E27FC236}">
                <a16:creationId xmlns:a16="http://schemas.microsoft.com/office/drawing/2014/main" id="{576EC4E0-788B-A022-B6AE-49AD32C67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499" y="767924"/>
            <a:ext cx="3484757" cy="2706783"/>
          </a:xfrm>
          <a:prstGeom prst="rect">
            <a:avLst/>
          </a:prstGeo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3BE439F6-2152-5487-6AE8-2CFB37F4E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72" y="786678"/>
            <a:ext cx="3462098" cy="2683071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2B71D101-5FE9-A636-0976-63FE6F06D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345" y="3457528"/>
            <a:ext cx="3492887" cy="2790825"/>
          </a:xfrm>
          <a:prstGeom prst="rect">
            <a:avLst/>
          </a:prstGeom>
        </p:spPr>
      </p:pic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8AEB3F93-21C1-6B8D-352F-B14D8863E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072" y="3434435"/>
            <a:ext cx="3462099" cy="2806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A36316-0C6C-43DC-502D-6460C5DFF03A}"/>
              </a:ext>
            </a:extLst>
          </p:cNvPr>
          <p:cNvSpPr txBox="1"/>
          <p:nvPr/>
        </p:nvSpPr>
        <p:spPr>
          <a:xfrm>
            <a:off x="307879" y="2120515"/>
            <a:ext cx="4564304" cy="26263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2175"/>
              </a:lnSpc>
              <a:buFont typeface=""/>
              <a:buChar char="•"/>
            </a:pPr>
            <a:r>
              <a:rPr lang="en-US" dirty="0">
                <a:cs typeface="Arial"/>
              </a:rPr>
              <a:t>With a smaller learning rate, the training and validation scores seem less random as the training and validation scores are relatively close to each other</a:t>
            </a:r>
          </a:p>
          <a:p>
            <a:pPr marL="228600" indent="-228600">
              <a:lnSpc>
                <a:spcPts val="2175"/>
              </a:lnSpc>
              <a:buFont typeface=""/>
              <a:buChar char="•"/>
            </a:pPr>
            <a:r>
              <a:rPr lang="en-US" dirty="0">
                <a:cs typeface="Arial"/>
              </a:rPr>
              <a:t>However, the model is still underfitting because both the training and validation scores are relatively low (but higher than the LR of 0.1)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934EF-97D6-3367-681A-0F58D6036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D70BC64E-B094-49DE-BD9C-DB662FCF5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5699EB-1E81-38EB-3FF2-18322DC09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71292"/>
            <a:ext cx="5062635" cy="1133708"/>
          </a:xfrm>
        </p:spPr>
        <p:txBody>
          <a:bodyPr>
            <a:normAutofit/>
          </a:bodyPr>
          <a:lstStyle/>
          <a:p>
            <a:r>
              <a:rPr lang="en-US" dirty="0"/>
              <a:t>1 Layer, LR 0.00001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18E0F5-1EF3-64D6-0802-B7983AC6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43133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ontent Placeholder 26">
            <a:extLst>
              <a:ext uri="{FF2B5EF4-FFF2-40B4-BE49-F238E27FC236}">
                <a16:creationId xmlns:a16="http://schemas.microsoft.com/office/drawing/2014/main" id="{B31A8B5A-0295-BCA3-4FBF-3021BDDB8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97" y="2239815"/>
            <a:ext cx="5062635" cy="38909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Lower training and validation accuracy with a lower learning rate of 0.00001</a:t>
            </a:r>
          </a:p>
          <a:p>
            <a:r>
              <a:rPr lang="en-US" dirty="0"/>
              <a:t>The model is still underfitting because both of the training and validation accuracy scores are still low.</a:t>
            </a:r>
          </a:p>
        </p:txBody>
      </p:sp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65E7BAF2-FF73-3AF8-CAD5-F67ADF711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466" y="3431391"/>
            <a:ext cx="3169188" cy="2363285"/>
          </a:xfrm>
          <a:prstGeom prst="rect">
            <a:avLst/>
          </a:prstGeom>
        </p:spPr>
      </p:pic>
      <p:pic>
        <p:nvPicPr>
          <p:cNvPr id="6" name="Content Placeholder 5" descr="A graph of a curve&#10;&#10;AI-generated content may be incorrect.">
            <a:extLst>
              <a:ext uri="{FF2B5EF4-FFF2-40B4-BE49-F238E27FC236}">
                <a16:creationId xmlns:a16="http://schemas.microsoft.com/office/drawing/2014/main" id="{7A9C57FA-BBAC-1641-EEA7-770BB70A6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295" y="1074350"/>
            <a:ext cx="3017093" cy="2368053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E868C4D1-D272-055F-3CD3-F8F9F8234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466" y="1068934"/>
            <a:ext cx="3082924" cy="2348907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E2273088-9A0E-8D99-B0B9-0DFDB4BE5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093" y="3426822"/>
            <a:ext cx="3025414" cy="234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9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6B97-C428-705E-8EBA-1A49A3DB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Layers [12,4], LR 0.1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39651D-A81E-9EF8-E30B-F28C8FA6B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9684" y="1336075"/>
            <a:ext cx="3055058" cy="2395719"/>
          </a:xfrm>
          <a:prstGeom prst="rect">
            <a:avLst/>
          </a:prstGeom>
        </p:spPr>
      </p:pic>
      <p:pic>
        <p:nvPicPr>
          <p:cNvPr id="5" name="Picture 4" descr="A graph of lines with numbers&#10;&#10;AI-generated content may be incorrect.">
            <a:extLst>
              <a:ext uri="{FF2B5EF4-FFF2-40B4-BE49-F238E27FC236}">
                <a16:creationId xmlns:a16="http://schemas.microsoft.com/office/drawing/2014/main" id="{6FA42905-CE58-797E-BFE5-D94821A9B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512" y="1329824"/>
            <a:ext cx="3156730" cy="2388260"/>
          </a:xfrm>
          <a:prstGeom prst="rect">
            <a:avLst/>
          </a:prstGeom>
        </p:spPr>
      </p:pic>
      <p:pic>
        <p:nvPicPr>
          <p:cNvPr id="6" name="Picture 5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26B07CA5-9C80-7080-3275-539C1DEF3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6" y="3734182"/>
            <a:ext cx="3055548" cy="2560787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87B2E0D9-ED95-152B-9940-4B2F51782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354" y="3734908"/>
            <a:ext cx="3171107" cy="25607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19A7CD-F66F-C6C6-5106-91C7EA06C240}"/>
              </a:ext>
            </a:extLst>
          </p:cNvPr>
          <p:cNvSpPr txBox="1"/>
          <p:nvPr/>
        </p:nvSpPr>
        <p:spPr>
          <a:xfrm>
            <a:off x="315576" y="2058939"/>
            <a:ext cx="510309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>
                <a:latin typeface="Trade Gothic Next Light"/>
                <a:ea typeface="Arial"/>
                <a:cs typeface="Arial"/>
              </a:rPr>
              <a:t>Once again, a learning rate of 0.1, which seems too big, results in random training and testing scores</a:t>
            </a: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Trade Gothic Next Light"/>
                <a:ea typeface="Arial"/>
                <a:cs typeface="Arial"/>
              </a:rPr>
              <a:t>There is underfitting</a:t>
            </a:r>
            <a:endParaRPr lang="en-US" sz="1800" dirty="0">
              <a:latin typeface="Trade Gothic Next Light"/>
              <a:ea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7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8A3C-EB51-BECB-C80B-D83687A4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2C7A-F205-21B3-6FAA-0AB11246D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" y="757238"/>
            <a:ext cx="10287000" cy="1147762"/>
          </a:xfrm>
        </p:spPr>
        <p:txBody>
          <a:bodyPr/>
          <a:lstStyle/>
          <a:p>
            <a:r>
              <a:rPr lang="en-US" dirty="0"/>
              <a:t>2 Layers [12,4], LR 0.001</a:t>
            </a:r>
          </a:p>
        </p:txBody>
      </p:sp>
      <p:pic>
        <p:nvPicPr>
          <p:cNvPr id="9" name="Content Placeholder 8" descr="A graph of a graph&#10;&#10;AI-generated content may be incorrect.">
            <a:extLst>
              <a:ext uri="{FF2B5EF4-FFF2-40B4-BE49-F238E27FC236}">
                <a16:creationId xmlns:a16="http://schemas.microsoft.com/office/drawing/2014/main" id="{698F8AFD-683F-0112-129A-5EFECF22A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7493" y="1337091"/>
            <a:ext cx="3202374" cy="2654512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A75C6E1E-0B71-007C-91FD-42D3CA9B0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647" y="1329098"/>
            <a:ext cx="3435649" cy="2647052"/>
          </a:xfrm>
          <a:prstGeom prst="rect">
            <a:avLst/>
          </a:prstGeom>
        </p:spPr>
      </p:pic>
      <p:pic>
        <p:nvPicPr>
          <p:cNvPr id="11" name="Picture 10" descr="A graph of layers with blue and orange lines&#10;&#10;AI-generated content may be incorrect.">
            <a:extLst>
              <a:ext uri="{FF2B5EF4-FFF2-40B4-BE49-F238E27FC236}">
                <a16:creationId xmlns:a16="http://schemas.microsoft.com/office/drawing/2014/main" id="{303D2F28-B60B-96C6-282B-AD9026515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289" y="4075172"/>
            <a:ext cx="3186024" cy="2517656"/>
          </a:xfrm>
          <a:prstGeom prst="rect">
            <a:avLst/>
          </a:prstGeom>
        </p:spPr>
      </p:pic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C4CAD948-476C-429B-6DDB-E2E7646E7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794" y="4080245"/>
            <a:ext cx="3439011" cy="25125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9DC9CC-B05F-2687-B748-A503BA410385}"/>
              </a:ext>
            </a:extLst>
          </p:cNvPr>
          <p:cNvSpPr txBox="1"/>
          <p:nvPr/>
        </p:nvSpPr>
        <p:spPr>
          <a:xfrm>
            <a:off x="0" y="2089727"/>
            <a:ext cx="528781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>
                <a:latin typeface="Trade Gothic Next Light"/>
                <a:ea typeface="Arial"/>
                <a:cs typeface="Arial"/>
              </a:rPr>
              <a:t>Much better performance compared to the other hyperparameter combinations</a:t>
            </a:r>
            <a:endParaRPr lang="en-US" sz="1800" dirty="0">
              <a:latin typeface="Trade Gothic Next Light"/>
              <a:ea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Trade Gothic Next Light"/>
                <a:ea typeface="Segoe UI"/>
                <a:cs typeface="Arial"/>
              </a:rPr>
              <a:t>Around epoch 10, the training and validation score are close and the scores are relatively high (0.90~), so I would say that it 's neither underfitting and overfitting. </a:t>
            </a:r>
          </a:p>
          <a:p>
            <a:pPr marL="228600" indent="-228600">
              <a:buFont typeface=""/>
              <a:buChar char="•"/>
            </a:pPr>
            <a:endParaRPr lang="en-US" dirty="0">
              <a:latin typeface="Trade Gothic Next Light"/>
              <a:ea typeface="Segoe UI"/>
              <a:cs typeface="Arial"/>
            </a:endParaRPr>
          </a:p>
          <a:p>
            <a:pPr algn="ctr" rtl="0"/>
            <a:r>
              <a:rPr lang="en-US" sz="1800" dirty="0">
                <a:latin typeface="Trade Gothic Next Ligh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9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F4A9-2A02-2C18-91E0-0EBDA541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8" y="297162"/>
            <a:ext cx="10287000" cy="1147762"/>
          </a:xfrm>
        </p:spPr>
        <p:txBody>
          <a:bodyPr>
            <a:normAutofit/>
          </a:bodyPr>
          <a:lstStyle/>
          <a:p>
            <a:r>
              <a:rPr lang="en-US" dirty="0"/>
              <a:t>2 Layers [12,4], LR 0.00001</a:t>
            </a:r>
          </a:p>
        </p:txBody>
      </p:sp>
      <p:pic>
        <p:nvPicPr>
          <p:cNvPr id="4" name="Content Placeholder 3" descr="A graph of a graph&#10;&#10;AI-generated content may be incorrect.">
            <a:extLst>
              <a:ext uri="{FF2B5EF4-FFF2-40B4-BE49-F238E27FC236}">
                <a16:creationId xmlns:a16="http://schemas.microsoft.com/office/drawing/2014/main" id="{8E84B4A8-CFF3-65CB-0832-967E874F2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6171" y="1437733"/>
            <a:ext cx="3446790" cy="2755154"/>
          </a:xfrm>
          <a:prstGeom prst="rect">
            <a:avLst/>
          </a:prstGeom>
        </p:spPr>
      </p:pic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387AAD97-F131-BC09-52A4-E67AC87D1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889" y="1444117"/>
            <a:ext cx="3603505" cy="2747693"/>
          </a:xfrm>
          <a:prstGeom prst="rect">
            <a:avLst/>
          </a:prstGeom>
        </p:spPr>
      </p:pic>
      <p:pic>
        <p:nvPicPr>
          <p:cNvPr id="6" name="Picture 5" descr="A graph of a curve&#10;&#10;AI-generated content may be incorrect.">
            <a:extLst>
              <a:ext uri="{FF2B5EF4-FFF2-40B4-BE49-F238E27FC236}">
                <a16:creationId xmlns:a16="http://schemas.microsoft.com/office/drawing/2014/main" id="{3A6B060C-EB13-9900-9C0C-23A07B123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700" y="4204569"/>
            <a:ext cx="3430977" cy="2747693"/>
          </a:xfrm>
          <a:prstGeom prst="rect">
            <a:avLst/>
          </a:prstGeom>
        </p:spPr>
      </p:pic>
      <p:pic>
        <p:nvPicPr>
          <p:cNvPr id="7" name="Picture 6" descr="A graph of a curve&#10;&#10;AI-generated content may be incorrect.">
            <a:extLst>
              <a:ext uri="{FF2B5EF4-FFF2-40B4-BE49-F238E27FC236}">
                <a16:creationId xmlns:a16="http://schemas.microsoft.com/office/drawing/2014/main" id="{969C9388-4BCD-A2A4-1229-BE0EBFBA0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888" y="4204569"/>
            <a:ext cx="3603505" cy="27476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26D382-DE0B-BD29-8D0F-3639C6448C33}"/>
              </a:ext>
            </a:extLst>
          </p:cNvPr>
          <p:cNvSpPr txBox="1"/>
          <p:nvPr/>
        </p:nvSpPr>
        <p:spPr>
          <a:xfrm>
            <a:off x="92364" y="1997364"/>
            <a:ext cx="491066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>
                <a:latin typeface="Trade Gothic Next Light"/>
                <a:cs typeface="Arial"/>
              </a:rPr>
              <a:t>Learning rate is too low and the accuracy scores starts to diminish</a:t>
            </a: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Trade Gothic Next Light"/>
                <a:cs typeface="Arial"/>
              </a:rPr>
              <a:t>Not the best model for this number of layers</a:t>
            </a:r>
          </a:p>
        </p:txBody>
      </p:sp>
    </p:spTree>
    <p:extLst>
      <p:ext uri="{BB962C8B-B14F-4D97-AF65-F5344CB8AC3E}">
        <p14:creationId xmlns:p14="http://schemas.microsoft.com/office/powerpoint/2010/main" val="3822443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B87A-AA78-EB38-407A-C3D87673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6" y="941965"/>
            <a:ext cx="5561061" cy="817083"/>
          </a:xfrm>
        </p:spPr>
        <p:txBody>
          <a:bodyPr>
            <a:normAutofit fontScale="90000"/>
          </a:bodyPr>
          <a:lstStyle/>
          <a:p>
            <a:r>
              <a:rPr lang="en-US" dirty="0"/>
              <a:t>3 Layers [32,32,16], LR 0.1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B8836C-14F5-DF35-0911-CBD44D7C4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5245" y="934527"/>
            <a:ext cx="3069436" cy="2481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35B4E5-CA41-5B63-FB02-EC200CE44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754" y="940908"/>
            <a:ext cx="3256832" cy="2474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E5BAA6-5321-7ACD-7924-D2C2A5B91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999" y="3428190"/>
            <a:ext cx="3069927" cy="2474524"/>
          </a:xfrm>
          <a:prstGeom prst="rect">
            <a:avLst/>
          </a:prstGeom>
        </p:spPr>
      </p:pic>
      <p:pic>
        <p:nvPicPr>
          <p:cNvPr id="7" name="Picture 6" descr="A graph with orange lines and numbers&#10;&#10;AI-generated content may be incorrect.">
            <a:extLst>
              <a:ext uri="{FF2B5EF4-FFF2-40B4-BE49-F238E27FC236}">
                <a16:creationId xmlns:a16="http://schemas.microsoft.com/office/drawing/2014/main" id="{B095CBA9-892B-3992-BA11-DDB5AB74D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1485" y="3428190"/>
            <a:ext cx="3257370" cy="24889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46AA97-75BF-19A5-DE7C-F49924D86A3B}"/>
              </a:ext>
            </a:extLst>
          </p:cNvPr>
          <p:cNvSpPr txBox="1"/>
          <p:nvPr/>
        </p:nvSpPr>
        <p:spPr>
          <a:xfrm>
            <a:off x="115455" y="2174394"/>
            <a:ext cx="543406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The learning rate is too high and the training and validation scores are random.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The model is underfitting</a:t>
            </a:r>
          </a:p>
        </p:txBody>
      </p:sp>
    </p:spTree>
    <p:extLst>
      <p:ext uri="{BB962C8B-B14F-4D97-AF65-F5344CB8AC3E}">
        <p14:creationId xmlns:p14="http://schemas.microsoft.com/office/powerpoint/2010/main" val="81434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A52F-F0C4-9814-F76B-3F4D0026F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1B3C-EAC9-8A23-89F9-1F829610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" y="1003541"/>
            <a:ext cx="6392334" cy="701338"/>
          </a:xfrm>
        </p:spPr>
        <p:txBody>
          <a:bodyPr>
            <a:normAutofit fontScale="90000"/>
          </a:bodyPr>
          <a:lstStyle/>
          <a:p>
            <a:r>
              <a:rPr lang="en-US" dirty="0"/>
              <a:t>3 Layers [32,32,16], LR 0.001</a:t>
            </a:r>
          </a:p>
        </p:txBody>
      </p:sp>
      <p:pic>
        <p:nvPicPr>
          <p:cNvPr id="4" name="Content Placeholder 3" descr="A graph of a graph&#10;&#10;AI-generated content may be incorrect.">
            <a:extLst>
              <a:ext uri="{FF2B5EF4-FFF2-40B4-BE49-F238E27FC236}">
                <a16:creationId xmlns:a16="http://schemas.microsoft.com/office/drawing/2014/main" id="{6F13E9FA-ED6C-B070-77C0-EAF8619A8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7206" y="1567130"/>
            <a:ext cx="2738757" cy="2295077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62CC6219-EF26-30D7-AA51-C0C6EA767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844" y="1420153"/>
            <a:ext cx="3060760" cy="2445768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461851D4-B4D2-8CD6-1672-CC131E799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393" y="3864304"/>
            <a:ext cx="2754702" cy="2129467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E873A2AE-137F-D848-52F6-CBFFCBE65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6688" y="3864305"/>
            <a:ext cx="3056087" cy="21294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079127-C253-288E-D018-83F67A5BF9FF}"/>
              </a:ext>
            </a:extLst>
          </p:cNvPr>
          <p:cNvSpPr txBox="1"/>
          <p:nvPr/>
        </p:nvSpPr>
        <p:spPr>
          <a:xfrm>
            <a:off x="153939" y="1958879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latin typeface="Trade Gothic Next Light"/>
                <a:ea typeface="Arial"/>
                <a:cs typeface="Arial"/>
              </a:rPr>
              <a:t>This is the best hyperparameter</a:t>
            </a:r>
            <a:endParaRPr lang="en-US" sz="1800" dirty="0">
              <a:latin typeface="Trade Gothic Next Light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cs typeface="Arial"/>
              </a:rPr>
              <a:t>The model generalizes well and the training and validation scores are not far from each other, which would </a:t>
            </a:r>
            <a:r>
              <a:rPr lang="en-US" dirty="0" err="1">
                <a:cs typeface="Arial"/>
              </a:rPr>
              <a:t>indicatethat</a:t>
            </a:r>
            <a:r>
              <a:rPr lang="en-US" dirty="0">
                <a:cs typeface="Arial"/>
              </a:rPr>
              <a:t> it's not overfitting with  the training score being around 0.95 and the validation score being around 0.975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2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04E27-79AE-A2FB-2B4F-3DB1C8AA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CA0D-272D-DF9B-E2AF-4FF29EE2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" y="110257"/>
            <a:ext cx="10287000" cy="1147762"/>
          </a:xfrm>
        </p:spPr>
        <p:txBody>
          <a:bodyPr/>
          <a:lstStyle/>
          <a:p>
            <a:r>
              <a:rPr lang="en-US" dirty="0"/>
              <a:t>3 Layers [32,32,16], LR 0.00001 </a:t>
            </a:r>
          </a:p>
        </p:txBody>
      </p:sp>
      <p:pic>
        <p:nvPicPr>
          <p:cNvPr id="4" name="Content Placeholder 3" descr="A graph of a graph&#10;&#10;AI-generated content may be incorrect.">
            <a:extLst>
              <a:ext uri="{FF2B5EF4-FFF2-40B4-BE49-F238E27FC236}">
                <a16:creationId xmlns:a16="http://schemas.microsoft.com/office/drawing/2014/main" id="{85025D62-166A-6FC6-E164-0247AFA2A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1228" y="1265205"/>
            <a:ext cx="3259884" cy="2597002"/>
          </a:xfrm>
          <a:prstGeom prst="rect">
            <a:avLst/>
          </a:prstGeom>
        </p:spPr>
      </p:pic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1530DC81-B9C4-ED65-415B-9B7BF551D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4039" y="1300342"/>
            <a:ext cx="3315959" cy="2647052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B818FA73-C7A9-35DD-5745-5088A3BDB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756" y="3960154"/>
            <a:ext cx="3244072" cy="2589542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62E6DBAB-EBCC-64D7-45DC-C9D7068EE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4038" y="3902644"/>
            <a:ext cx="3445355" cy="26470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562337-D5F8-68AC-B470-205098EBCE18}"/>
              </a:ext>
            </a:extLst>
          </p:cNvPr>
          <p:cNvSpPr txBox="1"/>
          <p:nvPr/>
        </p:nvSpPr>
        <p:spPr>
          <a:xfrm>
            <a:off x="107758" y="1704879"/>
            <a:ext cx="484909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latin typeface="Trade Gothic Next Light"/>
                <a:ea typeface="Segoe UI"/>
                <a:cs typeface="Arial"/>
              </a:rPr>
              <a:t>The model is less accurate with a lower learning rate </a:t>
            </a:r>
            <a:endParaRPr lang="en-US" sz="1800" dirty="0">
              <a:latin typeface="Trade Gothic Next Light"/>
              <a:ea typeface="Segoe UI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cs typeface="Arial"/>
              </a:rPr>
              <a:t>There is less chance of overfitting though because the training and validation score are super close to each other.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49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26DD882-9EA6-DF4B-AF70-0C6166EA8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B2E755-2902-3512-ABBE-E472FC038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510164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18279-2FFA-0010-80BF-24DDC2AE0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807" y="3826502"/>
            <a:ext cx="7714388" cy="10480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dirty="0"/>
              <a:t>Top 3 Hyperparameter Combination (based on Average VAL Score)</a:t>
            </a:r>
          </a:p>
        </p:txBody>
      </p:sp>
      <p:pic>
        <p:nvPicPr>
          <p:cNvPr id="4" name="Content Placeholder 3" descr="A black screen with numbers&#10;&#10;AI-generated content may be incorrect.">
            <a:extLst>
              <a:ext uri="{FF2B5EF4-FFF2-40B4-BE49-F238E27FC236}">
                <a16:creationId xmlns:a16="http://schemas.microsoft.com/office/drawing/2014/main" id="{79F6095B-DDAE-4686-2387-C678C2297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766" y="261680"/>
            <a:ext cx="9283388" cy="3561251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D6A2EB7-6350-58C2-B619-F0C3C0C0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4" y="517139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1E54C97-A7A5-B2DA-16ED-B98C9BC87619}"/>
              </a:ext>
            </a:extLst>
          </p:cNvPr>
          <p:cNvSpPr txBox="1"/>
          <p:nvPr/>
        </p:nvSpPr>
        <p:spPr>
          <a:xfrm>
            <a:off x="1056409" y="5333999"/>
            <a:ext cx="104775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Number 1: 3 layers [32,32,16] with a LR of 0.001 with average validation score of 0.96</a:t>
            </a:r>
            <a:endParaRPr lang="en-US"/>
          </a:p>
          <a:p>
            <a:pPr algn="ctr"/>
            <a:r>
              <a:rPr lang="en-US" dirty="0"/>
              <a:t>Number 2: 2 layers[12,4] with a LR of 0.001 with average validation score of 0.92</a:t>
            </a:r>
          </a:p>
          <a:p>
            <a:pPr algn="ctr"/>
            <a:r>
              <a:rPr lang="en-US" dirty="0"/>
              <a:t>Number 3: 3 layers[32,32,16] with a LR of 0.00001 with average validation score of 0.92</a:t>
            </a:r>
          </a:p>
        </p:txBody>
      </p:sp>
    </p:spTree>
    <p:extLst>
      <p:ext uri="{BB962C8B-B14F-4D97-AF65-F5344CB8AC3E}">
        <p14:creationId xmlns:p14="http://schemas.microsoft.com/office/powerpoint/2010/main" val="3718557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EF18-EE29-053D-A60E-F532495D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on Test Data with top 3 selections</a:t>
            </a:r>
          </a:p>
        </p:txBody>
      </p:sp>
      <p:pic>
        <p:nvPicPr>
          <p:cNvPr id="4" name="Content Placeholder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0F0C8767-0C7C-A9BA-096E-E267F7FBB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735" y="2190498"/>
            <a:ext cx="9570827" cy="2480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653323-B900-2104-BA4B-CB8C84EA11F2}"/>
              </a:ext>
            </a:extLst>
          </p:cNvPr>
          <p:cNvSpPr txBox="1"/>
          <p:nvPr/>
        </p:nvSpPr>
        <p:spPr>
          <a:xfrm>
            <a:off x="1045723" y="5058382"/>
            <a:ext cx="96303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When comparing the average validation score versus the test accuracy, </a:t>
            </a:r>
            <a:r>
              <a:rPr lang="en-US" err="1"/>
              <a:t>theyy</a:t>
            </a:r>
            <a:r>
              <a:rPr lang="en-US" dirty="0"/>
              <a:t> are relatively similar, which is a good indication that the results were not random and the model generalizes well with the best hyperparameter combination being 3 layers [32,32,16) with a learning rate of 0.001.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09546"/>
      </p:ext>
    </p:extLst>
  </p:cSld>
  <p:clrMapOvr>
    <a:masterClrMapping/>
  </p:clrMapOvr>
</p:sld>
</file>

<file path=ppt/theme/theme1.xml><?xml version="1.0" encoding="utf-8"?>
<a:theme xmlns:a="http://schemas.openxmlformats.org/drawingml/2006/main" name="AfterglowVTI">
  <a:themeElements>
    <a:clrScheme name="Custom 7">
      <a:dk1>
        <a:sysClr val="windowText" lastClr="000000"/>
      </a:dk1>
      <a:lt1>
        <a:sysClr val="window" lastClr="FFFFFF"/>
      </a:lt1>
      <a:dk2>
        <a:srgbClr val="0A2E36"/>
      </a:dk2>
      <a:lt2>
        <a:srgbClr val="E7E6E6"/>
      </a:lt2>
      <a:accent1>
        <a:srgbClr val="188659"/>
      </a:accent1>
      <a:accent2>
        <a:srgbClr val="A3A300"/>
      </a:accent2>
      <a:accent3>
        <a:srgbClr val="00ADA8"/>
      </a:accent3>
      <a:accent4>
        <a:srgbClr val="EA0440"/>
      </a:accent4>
      <a:accent5>
        <a:srgbClr val="92278F"/>
      </a:accent5>
      <a:accent6>
        <a:srgbClr val="E15BC1"/>
      </a:accent6>
      <a:hlink>
        <a:srgbClr val="188659"/>
      </a:hlink>
      <a:folHlink>
        <a:srgbClr val="EA0440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AfterglowVTI</vt:lpstr>
      <vt:lpstr>CSE 547 - HW1</vt:lpstr>
      <vt:lpstr>Overview </vt:lpstr>
      <vt:lpstr>1Layer , LR 0.1</vt:lpstr>
      <vt:lpstr>1Layer, LR 0.001</vt:lpstr>
      <vt:lpstr>1 Layer, LR 0.00001</vt:lpstr>
      <vt:lpstr>2 Layers [12,4], LR 0.1</vt:lpstr>
      <vt:lpstr>2 Layers [12,4], LR 0.001</vt:lpstr>
      <vt:lpstr>2 Layers [12,4], LR 0.00001</vt:lpstr>
      <vt:lpstr>3 Layers [32,32,16], LR 0.1</vt:lpstr>
      <vt:lpstr>3 Layers [32,32,16], LR 0.001</vt:lpstr>
      <vt:lpstr>3 Layers [32,32,16], LR 0.00001 </vt:lpstr>
      <vt:lpstr>Top 3 Hyperparameter Combination (based on Average VAL Score)</vt:lpstr>
      <vt:lpstr>Predict on Test Data with top 3 selections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443</cp:revision>
  <dcterms:created xsi:type="dcterms:W3CDTF">2026-02-05T00:38:52Z</dcterms:created>
  <dcterms:modified xsi:type="dcterms:W3CDTF">2026-02-05T22:54:23Z</dcterms:modified>
</cp:coreProperties>
</file>